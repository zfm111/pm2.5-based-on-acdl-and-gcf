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19"/>
  </p:handoutMasterIdLst>
  <p:sldIdLst>
    <p:sldId id="1939" r:id="rId4"/>
    <p:sldId id="2072" r:id="rId6"/>
    <p:sldId id="1938" r:id="rId7"/>
    <p:sldId id="2075" r:id="rId8"/>
    <p:sldId id="1980" r:id="rId9"/>
    <p:sldId id="1981" r:id="rId10"/>
    <p:sldId id="1983" r:id="rId11"/>
    <p:sldId id="1984" r:id="rId12"/>
    <p:sldId id="1979" r:id="rId13"/>
    <p:sldId id="1905" r:id="rId14"/>
    <p:sldId id="2076" r:id="rId15"/>
    <p:sldId id="1906" r:id="rId16"/>
    <p:sldId id="2077" r:id="rId17"/>
    <p:sldId id="1439" r:id="rId18"/>
  </p:sldIdLst>
  <p:sldSz cx="12192000" cy="6858000"/>
  <p:notesSz cx="9928225" cy="6797675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38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4" pos="3443" userDrawn="1">
          <p15:clr>
            <a:srgbClr val="A4A3A4"/>
          </p15:clr>
        </p15:guide>
        <p15:guide id="5" orient="horz" pos="3464" userDrawn="1">
          <p15:clr>
            <a:srgbClr val="A4A3A4"/>
          </p15:clr>
        </p15:guide>
        <p15:guide id="6" orient="horz" pos="27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  <p:cmAuthor id="2" name="DELL" initials="D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7F6EF"/>
    <a:srgbClr val="71FD5F"/>
    <a:srgbClr val="6DFD62"/>
    <a:srgbClr val="1EE8AF"/>
    <a:srgbClr val="17DEBF"/>
    <a:srgbClr val="D4E735"/>
    <a:srgbClr val="F8BE39"/>
    <a:srgbClr val="FDAB33"/>
    <a:srgbClr val="FD8F28"/>
    <a:srgbClr val="E84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01" autoAdjust="0"/>
    <p:restoredTop sz="97362" autoAdjust="0"/>
  </p:normalViewPr>
  <p:slideViewPr>
    <p:cSldViewPr showGuides="1">
      <p:cViewPr varScale="1">
        <p:scale>
          <a:sx n="151" d="100"/>
          <a:sy n="151" d="100"/>
        </p:scale>
        <p:origin x="96" y="288"/>
      </p:cViewPr>
      <p:guideLst>
        <p:guide pos="438"/>
        <p:guide pos="3976"/>
        <p:guide pos="3443"/>
        <p:guide orient="horz" pos="3464"/>
        <p:guide orient="horz" pos="27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67"/>
    </p:cViewPr>
  </p:sorterViewPr>
  <p:notesViewPr>
    <p:cSldViewPr>
      <p:cViewPr varScale="1">
        <p:scale>
          <a:sx n="112" d="100"/>
          <a:sy n="112" d="100"/>
        </p:scale>
        <p:origin x="4400" y="92"/>
      </p:cViewPr>
      <p:guideLst>
        <p:guide orient="horz" pos="2289"/>
        <p:guide pos="315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25CD3D0-4EFD-481E-9D14-1A7184EF0211}" type="datetimeFigureOut">
              <a:rPr lang="zh-CN" altLang="en-US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BEFF3E-C602-4C59-9274-FE7B1923DCBC}" type="slidenum">
              <a:rPr lang="zh-CN" altLang="en-US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796DB5E-A4B9-487D-94FB-25EA31F14862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80" tIns="44888" rIns="89780" bIns="44888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360" y="3229277"/>
            <a:ext cx="7943507" cy="3058628"/>
          </a:xfrm>
          <a:prstGeom prst="rect">
            <a:avLst/>
          </a:prstGeom>
        </p:spPr>
        <p:txBody>
          <a:bodyPr vert="horz" lIns="89780" tIns="44888" rIns="89780" bIns="44888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89780" tIns="44888" rIns="89780" bIns="4488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F532D6A-6618-4A1D-AEA9-5AA8E62665D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697163" y="509588"/>
            <a:ext cx="4533900" cy="2549525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FF1D36-30FF-4EBB-9496-996DD6D8B2A9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ea"/>
              </a:rPr>
              <a:t>衷心感谢各位专家</a:t>
            </a:r>
            <a:endParaRPr lang="zh-CN" altLang="en-US" sz="900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FF1D36-30FF-4EBB-9496-996DD6D8B2A9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17"/>
          <a:stretch>
            <a:fillRect/>
          </a:stretch>
        </p:blipFill>
        <p:spPr>
          <a:xfrm>
            <a:off x="0" y="0"/>
            <a:ext cx="12192000" cy="5013176"/>
          </a:xfrm>
          <a:prstGeom prst="rect">
            <a:avLst/>
          </a:prstGeom>
        </p:spPr>
      </p:pic>
      <p:sp>
        <p:nvSpPr>
          <p:cNvPr id="6" name="Rectangle 21"/>
          <p:cNvSpPr txBox="1">
            <a:spLocks noChangeArrowheads="1"/>
          </p:cNvSpPr>
          <p:nvPr userDrawn="1"/>
        </p:nvSpPr>
        <p:spPr bwMode="gray">
          <a:xfrm>
            <a:off x="-2" y="3836632"/>
            <a:ext cx="12192000" cy="1176544"/>
          </a:xfrm>
          <a:prstGeom prst="rect">
            <a:avLst/>
          </a:prstGeom>
          <a:solidFill>
            <a:srgbClr val="1F4B99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ts val="4800"/>
              </a:spcBef>
              <a:buFontTx/>
              <a:buNone/>
            </a:pPr>
            <a:endParaRPr kumimoji="0" lang="zh-CN" altLang="en-US" sz="4800" b="1" dirty="0">
              <a:solidFill>
                <a:schemeClr val="bg1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9674" y="5005227"/>
            <a:ext cx="5832648" cy="1152128"/>
          </a:xfrm>
          <a:noFill/>
          <a:ln>
            <a:noFill/>
          </a:ln>
          <a:effectLst/>
        </p:spPr>
        <p:txBody>
          <a:bodyPr/>
          <a:lstStyle>
            <a:lvl1pPr algn="ctr">
              <a:lnSpc>
                <a:spcPct val="150000"/>
              </a:lnSpc>
              <a:buNone/>
              <a:defRPr lang="zh-CN" altLang="en-US" sz="24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1504" y="3956852"/>
            <a:ext cx="8712968" cy="9361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zh-CN" altLang="en-US" sz="5400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i$liḋe-Oval 14"/>
          <p:cNvSpPr/>
          <p:nvPr userDrawn="1"/>
        </p:nvSpPr>
        <p:spPr bwMode="auto">
          <a:xfrm>
            <a:off x="911424" y="2276872"/>
            <a:ext cx="365276" cy="368734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i$liḋe-Oval 15"/>
          <p:cNvSpPr/>
          <p:nvPr userDrawn="1"/>
        </p:nvSpPr>
        <p:spPr bwMode="auto">
          <a:xfrm>
            <a:off x="2312962" y="3750547"/>
            <a:ext cx="608793" cy="614557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i$liḋe-Oval 16"/>
          <p:cNvSpPr/>
          <p:nvPr userDrawn="1"/>
        </p:nvSpPr>
        <p:spPr bwMode="auto">
          <a:xfrm>
            <a:off x="3408788" y="1289145"/>
            <a:ext cx="252000" cy="252000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$liḋe-Oval 17"/>
          <p:cNvSpPr/>
          <p:nvPr userDrawn="1"/>
        </p:nvSpPr>
        <p:spPr bwMode="auto">
          <a:xfrm>
            <a:off x="3701189" y="3246343"/>
            <a:ext cx="450595" cy="454861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450696" y="1363172"/>
            <a:ext cx="2628001" cy="2642330"/>
            <a:chOff x="5334851" y="2144603"/>
            <a:chExt cx="2347669" cy="233775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20" t="708" r="20174" b="338"/>
            <a:stretch>
              <a:fillRect/>
            </a:stretch>
          </p:blipFill>
          <p:spPr>
            <a:xfrm>
              <a:off x="5346033" y="2155087"/>
              <a:ext cx="2327274" cy="2327274"/>
            </a:xfrm>
            <a:prstGeom prst="ellipse">
              <a:avLst/>
            </a:prstGeom>
          </p:spPr>
        </p:pic>
        <p:sp>
          <p:nvSpPr>
            <p:cNvPr id="10" name="i$liḋe-Oval 12"/>
            <p:cNvSpPr/>
            <p:nvPr/>
          </p:nvSpPr>
          <p:spPr bwMode="auto">
            <a:xfrm>
              <a:off x="5334851" y="2144603"/>
              <a:ext cx="2347669" cy="2325081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内容占位符 2"/>
          <p:cNvSpPr>
            <a:spLocks noGrp="1"/>
          </p:cNvSpPr>
          <p:nvPr>
            <p:ph idx="1" hasCustomPrompt="1"/>
          </p:nvPr>
        </p:nvSpPr>
        <p:spPr>
          <a:xfrm>
            <a:off x="4727848" y="1457549"/>
            <a:ext cx="5595600" cy="4032448"/>
          </a:xfrm>
          <a:noFill/>
          <a:ln>
            <a:noFill/>
          </a:ln>
          <a:effectLst/>
        </p:spPr>
        <p:txBody>
          <a:bodyPr/>
          <a:lstStyle>
            <a:lvl1pPr>
              <a:lnSpc>
                <a:spcPct val="150000"/>
              </a:lnSpc>
              <a:buFont typeface="+mj-lt"/>
              <a:buAutoNum type="arabicPeriod"/>
              <a:defRPr lang="zh-CN" altLang="en-US" sz="33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 hasCustomPrompt="1"/>
          </p:nvPr>
        </p:nvSpPr>
        <p:spPr>
          <a:xfrm>
            <a:off x="4727848" y="1457549"/>
            <a:ext cx="5595600" cy="4032448"/>
          </a:xfrm>
          <a:noFill/>
          <a:ln>
            <a:noFill/>
          </a:ln>
          <a:effectLst/>
        </p:spPr>
        <p:txBody>
          <a:bodyPr/>
          <a:lstStyle>
            <a:lvl1pPr>
              <a:lnSpc>
                <a:spcPct val="150000"/>
              </a:lnSpc>
              <a:buFont typeface="+mj-lt"/>
              <a:buAutoNum type="arabicPeriod"/>
              <a:defRPr lang="zh-CN" altLang="en-US" sz="33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i$liḋe-Oval 14"/>
          <p:cNvSpPr/>
          <p:nvPr/>
        </p:nvSpPr>
        <p:spPr bwMode="auto">
          <a:xfrm>
            <a:off x="839416" y="2274715"/>
            <a:ext cx="365276" cy="368734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i$liḋe-Oval 15"/>
          <p:cNvSpPr/>
          <p:nvPr/>
        </p:nvSpPr>
        <p:spPr bwMode="auto">
          <a:xfrm>
            <a:off x="2312962" y="3750547"/>
            <a:ext cx="608793" cy="614557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i$liḋe-Oval 16"/>
          <p:cNvSpPr/>
          <p:nvPr/>
        </p:nvSpPr>
        <p:spPr bwMode="auto">
          <a:xfrm>
            <a:off x="3408790" y="1340768"/>
            <a:ext cx="194636" cy="196478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i$liḋe-Oval 17"/>
          <p:cNvSpPr/>
          <p:nvPr/>
        </p:nvSpPr>
        <p:spPr bwMode="auto">
          <a:xfrm>
            <a:off x="3701189" y="3246343"/>
            <a:ext cx="450595" cy="454861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450695" y="1363172"/>
            <a:ext cx="2628000" cy="2642330"/>
            <a:chOff x="5334852" y="2144603"/>
            <a:chExt cx="2347669" cy="2337758"/>
          </a:xfrm>
          <a:blipFill>
            <a:blip r:embed="rId2"/>
            <a:stretch>
              <a:fillRect/>
            </a:stretch>
          </a:blipFill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20" t="708" r="20174" b="338"/>
            <a:stretch>
              <a:fillRect/>
            </a:stretch>
          </p:blipFill>
          <p:spPr>
            <a:xfrm>
              <a:off x="5346033" y="2155087"/>
              <a:ext cx="2327274" cy="2327274"/>
            </a:xfrm>
            <a:prstGeom prst="ellipse">
              <a:avLst/>
            </a:prstGeom>
            <a:grpFill/>
          </p:spPr>
        </p:pic>
        <p:sp>
          <p:nvSpPr>
            <p:cNvPr id="20" name="i$liḋe-Oval 12"/>
            <p:cNvSpPr/>
            <p:nvPr/>
          </p:nvSpPr>
          <p:spPr bwMode="auto">
            <a:xfrm>
              <a:off x="5334852" y="2144603"/>
              <a:ext cx="2347669" cy="2325081"/>
            </a:xfrm>
            <a:prstGeom prst="ellipse">
              <a:avLst/>
            </a:prstGeom>
            <a:grpFill/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1" y="168500"/>
            <a:ext cx="11297920" cy="650974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685800" rtl="0" eaLnBrk="1" latinLnBrk="0" hangingPunct="1">
              <a:lnSpc>
                <a:spcPct val="100000"/>
              </a:lnSpc>
              <a:defRPr lang="en-US" sz="3200" b="1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B4079EA7-C98D-4F84-8E79-E8D84A8D79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1055352" y="6315076"/>
            <a:ext cx="704849" cy="258763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E573FF62-F927-4949-8195-3D0EF571EDBF}" type="slidenum">
              <a:rPr lang="zh-CN" altLang="en-US"/>
            </a:fld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62281" y="1052736"/>
            <a:ext cx="11297920" cy="4824536"/>
          </a:xfrm>
          <a:noFill/>
          <a:ln>
            <a:noFill/>
          </a:ln>
          <a:effectLst/>
        </p:spPr>
        <p:txBody>
          <a:bodyPr/>
          <a:lstStyle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lang="zh-CN" altLang="en-US" sz="2400" b="1">
                <a:solidFill>
                  <a:srgbClr val="002060"/>
                </a:solidFill>
              </a:defRPr>
            </a:lvl1pPr>
            <a:lvl2pPr>
              <a:defRPr lang="zh-CN" altLang="en-US" sz="1800" b="1">
                <a:solidFill>
                  <a:srgbClr val="002060"/>
                </a:solidFill>
              </a:defRPr>
            </a:lvl2pPr>
            <a:lvl3pPr>
              <a:defRPr lang="zh-CN" altLang="en-US" sz="1600" b="1">
                <a:solidFill>
                  <a:srgbClr val="002060"/>
                </a:solidFill>
              </a:defRPr>
            </a:lvl3pPr>
            <a:lvl4pPr>
              <a:defRPr lang="zh-CN" altLang="en-US" sz="1400" b="1">
                <a:solidFill>
                  <a:srgbClr val="002060"/>
                </a:solidFill>
              </a:defRPr>
            </a:lvl4pPr>
            <a:lvl5pPr>
              <a:defRPr lang="zh-CN" altLang="en-US" sz="1400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副标题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24" y="92869"/>
            <a:ext cx="11297920" cy="650974"/>
          </a:xfrm>
        </p:spPr>
        <p:txBody>
          <a:bodyPr/>
          <a:lstStyle>
            <a:lvl1pPr algn="l">
              <a:defRPr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C836-76E0-4E37-9DA7-F8F686C3A473}" type="datetimeFigureOut">
              <a:rPr lang="zh-CN" altLang="en-US" smtClean="0">
                <a:solidFill>
                  <a:prstClr val="white"/>
                </a:solidFill>
              </a:rPr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advClick="0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17"/>
          <a:stretch>
            <a:fillRect/>
          </a:stretch>
        </p:blipFill>
        <p:spPr>
          <a:xfrm>
            <a:off x="0" y="0"/>
            <a:ext cx="12192000" cy="5013176"/>
          </a:xfrm>
          <a:prstGeom prst="rect">
            <a:avLst/>
          </a:prstGeom>
        </p:spPr>
      </p:pic>
      <p:sp>
        <p:nvSpPr>
          <p:cNvPr id="6" name="Rectangle 21"/>
          <p:cNvSpPr txBox="1">
            <a:spLocks noChangeArrowheads="1"/>
          </p:cNvSpPr>
          <p:nvPr userDrawn="1"/>
        </p:nvSpPr>
        <p:spPr bwMode="gray">
          <a:xfrm>
            <a:off x="-2" y="3836632"/>
            <a:ext cx="12192000" cy="1176544"/>
          </a:xfrm>
          <a:prstGeom prst="rect">
            <a:avLst/>
          </a:prstGeom>
          <a:solidFill>
            <a:srgbClr val="1F4B99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ts val="4800"/>
              </a:spcBef>
              <a:buFontTx/>
              <a:buNone/>
            </a:pPr>
            <a:endParaRPr kumimoji="0" lang="zh-CN" altLang="en-US" sz="4800" b="1" dirty="0">
              <a:solidFill>
                <a:schemeClr val="bg1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9674" y="5005227"/>
            <a:ext cx="5832648" cy="1152128"/>
          </a:xfrm>
          <a:noFill/>
          <a:ln>
            <a:noFill/>
          </a:ln>
          <a:effectLst/>
        </p:spPr>
        <p:txBody>
          <a:bodyPr/>
          <a:lstStyle>
            <a:lvl1pPr algn="ctr">
              <a:lnSpc>
                <a:spcPct val="150000"/>
              </a:lnSpc>
              <a:buNone/>
              <a:defRPr lang="zh-CN" altLang="en-US" sz="24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1504" y="3956852"/>
            <a:ext cx="8712968" cy="9361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zh-CN" altLang="en-US" sz="5400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i$liḋe-Oval 14"/>
          <p:cNvSpPr/>
          <p:nvPr userDrawn="1"/>
        </p:nvSpPr>
        <p:spPr bwMode="auto">
          <a:xfrm>
            <a:off x="911424" y="2276872"/>
            <a:ext cx="365276" cy="368734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i$liḋe-Oval 15"/>
          <p:cNvSpPr/>
          <p:nvPr userDrawn="1"/>
        </p:nvSpPr>
        <p:spPr bwMode="auto">
          <a:xfrm>
            <a:off x="2312962" y="3750547"/>
            <a:ext cx="608793" cy="614557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i$liḋe-Oval 16"/>
          <p:cNvSpPr/>
          <p:nvPr userDrawn="1"/>
        </p:nvSpPr>
        <p:spPr bwMode="auto">
          <a:xfrm>
            <a:off x="3408788" y="1289145"/>
            <a:ext cx="252000" cy="252000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$liḋe-Oval 17"/>
          <p:cNvSpPr/>
          <p:nvPr userDrawn="1"/>
        </p:nvSpPr>
        <p:spPr bwMode="auto">
          <a:xfrm>
            <a:off x="3701189" y="3246343"/>
            <a:ext cx="450595" cy="454861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450696" y="1363172"/>
            <a:ext cx="2628001" cy="2642330"/>
            <a:chOff x="5334851" y="2144603"/>
            <a:chExt cx="2347669" cy="233775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20" t="708" r="20174" b="338"/>
            <a:stretch>
              <a:fillRect/>
            </a:stretch>
          </p:blipFill>
          <p:spPr>
            <a:xfrm>
              <a:off x="5346033" y="2155087"/>
              <a:ext cx="2327274" cy="2327274"/>
            </a:xfrm>
            <a:prstGeom prst="ellipse">
              <a:avLst/>
            </a:prstGeom>
          </p:spPr>
        </p:pic>
        <p:sp>
          <p:nvSpPr>
            <p:cNvPr id="10" name="i$liḋe-Oval 12"/>
            <p:cNvSpPr/>
            <p:nvPr/>
          </p:nvSpPr>
          <p:spPr bwMode="auto">
            <a:xfrm>
              <a:off x="5334851" y="2144603"/>
              <a:ext cx="2347669" cy="2325081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:endPara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内容占位符 2"/>
          <p:cNvSpPr>
            <a:spLocks noGrp="1"/>
          </p:cNvSpPr>
          <p:nvPr>
            <p:ph idx="1" hasCustomPrompt="1"/>
          </p:nvPr>
        </p:nvSpPr>
        <p:spPr>
          <a:xfrm>
            <a:off x="4727848" y="1457549"/>
            <a:ext cx="5595600" cy="4032448"/>
          </a:xfrm>
          <a:noFill/>
          <a:ln>
            <a:noFill/>
          </a:ln>
          <a:effectLst/>
        </p:spPr>
        <p:txBody>
          <a:bodyPr/>
          <a:lstStyle>
            <a:lvl1pPr>
              <a:lnSpc>
                <a:spcPct val="150000"/>
              </a:lnSpc>
              <a:buFont typeface="+mj-lt"/>
              <a:buAutoNum type="arabicPeriod"/>
              <a:defRPr lang="zh-CN" altLang="en-US" sz="33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 hasCustomPrompt="1"/>
          </p:nvPr>
        </p:nvSpPr>
        <p:spPr>
          <a:xfrm>
            <a:off x="4727848" y="1457549"/>
            <a:ext cx="5595600" cy="4032448"/>
          </a:xfrm>
          <a:noFill/>
          <a:ln>
            <a:noFill/>
          </a:ln>
          <a:effectLst/>
        </p:spPr>
        <p:txBody>
          <a:bodyPr/>
          <a:lstStyle>
            <a:lvl1pPr>
              <a:lnSpc>
                <a:spcPct val="150000"/>
              </a:lnSpc>
              <a:buFont typeface="+mj-lt"/>
              <a:buAutoNum type="arabicPeriod"/>
              <a:defRPr lang="zh-CN" altLang="en-US" sz="3300" b="1">
                <a:solidFill>
                  <a:srgbClr val="002060"/>
                </a:solidFill>
              </a:defRPr>
            </a:lvl1pPr>
            <a:lvl2pPr>
              <a:defRPr lang="zh-CN" altLang="en-US" b="1">
                <a:solidFill>
                  <a:srgbClr val="002060"/>
                </a:solidFill>
              </a:defRPr>
            </a:lvl2pPr>
            <a:lvl3pPr>
              <a:defRPr lang="zh-CN" altLang="en-US" b="1">
                <a:solidFill>
                  <a:srgbClr val="002060"/>
                </a:solidFill>
              </a:defRPr>
            </a:lvl3pPr>
            <a:lvl4pPr>
              <a:defRPr lang="zh-CN" altLang="en-US" b="1">
                <a:solidFill>
                  <a:srgbClr val="002060"/>
                </a:solidFill>
              </a:defRPr>
            </a:lvl4pPr>
            <a:lvl5pPr>
              <a:defRPr lang="zh-CN" altLang="en-US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i$liḋe-Oval 14"/>
          <p:cNvSpPr/>
          <p:nvPr/>
        </p:nvSpPr>
        <p:spPr bwMode="auto">
          <a:xfrm>
            <a:off x="839416" y="2274715"/>
            <a:ext cx="365276" cy="368734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i$liḋe-Oval 15"/>
          <p:cNvSpPr/>
          <p:nvPr/>
        </p:nvSpPr>
        <p:spPr bwMode="auto">
          <a:xfrm>
            <a:off x="2312962" y="3750547"/>
            <a:ext cx="608793" cy="614557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i$liḋe-Oval 16"/>
          <p:cNvSpPr/>
          <p:nvPr/>
        </p:nvSpPr>
        <p:spPr bwMode="auto">
          <a:xfrm>
            <a:off x="3408790" y="1340768"/>
            <a:ext cx="194636" cy="196478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i$liḋe-Oval 17"/>
          <p:cNvSpPr/>
          <p:nvPr/>
        </p:nvSpPr>
        <p:spPr bwMode="auto">
          <a:xfrm>
            <a:off x="3701189" y="3246343"/>
            <a:ext cx="450595" cy="454861"/>
          </a:xfrm>
          <a:prstGeom prst="ellipse">
            <a:avLst/>
          </a:prstGeom>
          <a:solidFill>
            <a:schemeClr val="bg1">
              <a:lumMod val="75000"/>
              <a:alpha val="20000"/>
            </a:schemeClr>
          </a:solidFill>
          <a:ln w="50800">
            <a:solidFill>
              <a:schemeClr val="tx1">
                <a:alpha val="0"/>
              </a:schemeClr>
            </a:solidFill>
            <a:miter lim="800000"/>
          </a:ln>
        </p:spPr>
        <p:txBody>
          <a:bodyPr anchor="ctr"/>
          <a:lstStyle/>
          <a:p>
            <a:pPr algn="ctr"/>
            <a:endParaRPr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450695" y="1363172"/>
            <a:ext cx="2628000" cy="2642330"/>
            <a:chOff x="5334852" y="2144603"/>
            <a:chExt cx="2347669" cy="2337758"/>
          </a:xfrm>
          <a:blipFill>
            <a:blip r:embed="rId2"/>
            <a:stretch>
              <a:fillRect/>
            </a:stretch>
          </a:blipFill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20" t="708" r="20174" b="338"/>
            <a:stretch>
              <a:fillRect/>
            </a:stretch>
          </p:blipFill>
          <p:spPr>
            <a:xfrm>
              <a:off x="5346033" y="2155087"/>
              <a:ext cx="2327274" cy="2327274"/>
            </a:xfrm>
            <a:prstGeom prst="ellipse">
              <a:avLst/>
            </a:prstGeom>
            <a:grpFill/>
          </p:spPr>
        </p:pic>
        <p:sp>
          <p:nvSpPr>
            <p:cNvPr id="20" name="i$liḋe-Oval 12"/>
            <p:cNvSpPr/>
            <p:nvPr/>
          </p:nvSpPr>
          <p:spPr bwMode="auto">
            <a:xfrm>
              <a:off x="5334852" y="2144603"/>
              <a:ext cx="2347669" cy="2325081"/>
            </a:xfrm>
            <a:prstGeom prst="ellipse">
              <a:avLst/>
            </a:prstGeom>
            <a:grpFill/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:endPara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1" y="168500"/>
            <a:ext cx="11297920" cy="650974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685800" rtl="0" eaLnBrk="1" latinLnBrk="0" hangingPunct="1">
              <a:lnSpc>
                <a:spcPct val="100000"/>
              </a:lnSpc>
              <a:defRPr lang="en-US" sz="3200" b="1" kern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B4079EA7-C98D-4F84-8E79-E8D84A8D79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prstClr val="white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1055352" y="6315076"/>
            <a:ext cx="704849" cy="258763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E573FF62-F927-4949-8195-3D0EF571EDBF}" type="slidenum">
              <a:rPr lang="zh-CN" altLang="en-US"/>
            </a:fld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62281" y="1052736"/>
            <a:ext cx="11297920" cy="4824536"/>
          </a:xfrm>
          <a:noFill/>
          <a:ln>
            <a:noFill/>
          </a:ln>
          <a:effectLst/>
        </p:spPr>
        <p:txBody>
          <a:bodyPr/>
          <a:lstStyle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lang="zh-CN" altLang="en-US" sz="2400" b="1">
                <a:solidFill>
                  <a:srgbClr val="002060"/>
                </a:solidFill>
              </a:defRPr>
            </a:lvl1pPr>
            <a:lvl2pPr>
              <a:defRPr lang="zh-CN" altLang="en-US" sz="1800" b="1">
                <a:solidFill>
                  <a:srgbClr val="002060"/>
                </a:solidFill>
              </a:defRPr>
            </a:lvl2pPr>
            <a:lvl3pPr>
              <a:defRPr lang="zh-CN" altLang="en-US" sz="1600" b="1">
                <a:solidFill>
                  <a:srgbClr val="002060"/>
                </a:solidFill>
              </a:defRPr>
            </a:lvl3pPr>
            <a:lvl4pPr>
              <a:defRPr lang="zh-CN" altLang="en-US" sz="1400" b="1">
                <a:solidFill>
                  <a:srgbClr val="002060"/>
                </a:solidFill>
              </a:defRPr>
            </a:lvl4pPr>
            <a:lvl5pPr>
              <a:defRPr lang="zh-CN" altLang="en-US" sz="1400" b="1">
                <a:solidFill>
                  <a:srgbClr val="002060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</p:spTree>
  </p:cSld>
  <p:clrMapOvr>
    <a:masterClrMapping/>
  </p:clrMapOvr>
  <p:transition advClick="0" advT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4950" y="728728"/>
            <a:ext cx="12168000" cy="252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fornian FB" panose="0207040306080B0302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副标题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advClick="0" advT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24" y="92869"/>
            <a:ext cx="11297920" cy="650974"/>
          </a:xfrm>
        </p:spPr>
        <p:txBody>
          <a:bodyPr/>
          <a:lstStyle>
            <a:lvl1pPr algn="l">
              <a:defRPr>
                <a:solidFill>
                  <a:srgbClr val="00206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C836-76E0-4E37-9DA7-F8F686C3A473}" type="datetimeFigureOut">
              <a:rPr lang="zh-CN" altLang="en-US" smtClean="0">
                <a:solidFill>
                  <a:prstClr val="white"/>
                </a:solidFill>
              </a:rPr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advClick="0" advT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chemeClr val="bg1"/>
            </a:gs>
          </a:gsLst>
          <a:lin ang="3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7080" y="126873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5635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/>
            </a:pPr>
            <a:fld id="{9FF2D5F8-55F8-4AD9-B99A-05BB58AA1D99}" type="datetime1">
              <a:rPr lang="zh-CN" altLang="en-US" smtClean="0"/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矩形 8"/>
          <p:cNvSpPr/>
          <p:nvPr userDrawn="1"/>
        </p:nvSpPr>
        <p:spPr>
          <a:xfrm flipV="1">
            <a:off x="0" y="836712"/>
            <a:ext cx="12096749" cy="34925"/>
          </a:xfrm>
          <a:prstGeom prst="rect">
            <a:avLst/>
          </a:prstGeom>
          <a:gradFill flip="none" rotWithShape="1">
            <a:gsLst>
              <a:gs pos="38000">
                <a:srgbClr val="3C62A1"/>
              </a:gs>
              <a:gs pos="0">
                <a:schemeClr val="bg1"/>
              </a:gs>
              <a:gs pos="100000">
                <a:srgbClr val="1D499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652000" y="6572250"/>
            <a:ext cx="2540000" cy="457200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622E378-C8A0-40AB-8D01-4721FCF9AF12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advClick="0" advTm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chemeClr val="bg1"/>
            </a:gs>
          </a:gsLst>
          <a:lin ang="3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7080" y="126873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5635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/>
            </a:pPr>
            <a:fld id="{9FF2D5F8-55F8-4AD9-B99A-05BB58AA1D99}" type="datetime1">
              <a:rPr lang="zh-CN" altLang="en-US" smtClean="0"/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矩形 8"/>
          <p:cNvSpPr/>
          <p:nvPr userDrawn="1"/>
        </p:nvSpPr>
        <p:spPr>
          <a:xfrm flipV="1">
            <a:off x="0" y="836712"/>
            <a:ext cx="12096749" cy="34925"/>
          </a:xfrm>
          <a:prstGeom prst="rect">
            <a:avLst/>
          </a:prstGeom>
          <a:gradFill flip="none" rotWithShape="1">
            <a:gsLst>
              <a:gs pos="38000">
                <a:srgbClr val="3C62A1"/>
              </a:gs>
              <a:gs pos="0">
                <a:schemeClr val="bg1"/>
              </a:gs>
              <a:gs pos="100000">
                <a:srgbClr val="1D499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652000" y="6572250"/>
            <a:ext cx="2540000" cy="457200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622E378-C8A0-40AB-8D01-4721FCF9AF12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ransition advClick="0" advTm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FFCC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7"/>
          <p:cNvSpPr txBox="1">
            <a:spLocks noChangeArrowheads="1"/>
          </p:cNvSpPr>
          <p:nvPr/>
        </p:nvSpPr>
        <p:spPr bwMode="auto">
          <a:xfrm>
            <a:off x="2838450" y="5229225"/>
            <a:ext cx="6455410" cy="1296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latin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张熠，赵方明</a:t>
            </a:r>
            <a:endParaRPr kumimoji="0" lang="en-US" altLang="zh-CN" sz="900" b="1" dirty="0">
              <a:solidFill>
                <a:srgbClr val="00206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latinLnBrk="1" hangingPunct="1">
              <a:lnSpc>
                <a:spcPct val="140000"/>
              </a:lnSpc>
              <a:spcBef>
                <a:spcPts val="0"/>
              </a:spcBef>
              <a:buNone/>
            </a:pPr>
            <a:r>
              <a:rPr kumimoji="0" lang="en-US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2026-4-13</a:t>
            </a:r>
            <a:endParaRPr kumimoji="0" lang="en-US" sz="2800" b="1" dirty="0">
              <a:solidFill>
                <a:srgbClr val="00206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93" name="AutoShape 2" descr="“LIESMARS”的图片搜索结果"/>
          <p:cNvSpPr>
            <a:spLocks noChangeAspect="1" noChangeArrowheads="1"/>
          </p:cNvSpPr>
          <p:nvPr/>
        </p:nvSpPr>
        <p:spPr bwMode="auto">
          <a:xfrm>
            <a:off x="-458788" y="123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kumimoji="0" lang="zh-CN" altLang="en-US" sz="18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94" name="AutoShape 4" descr="“LIESMARS”的图片搜索结果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kumimoji="0" lang="zh-CN" altLang="en-US" sz="18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040" y="4027805"/>
            <a:ext cx="120142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latinLnBrk="1" hangingPunct="1">
              <a:spcBef>
                <a:spcPts val="0"/>
              </a:spcBef>
              <a:buNone/>
            </a:pPr>
            <a:r>
              <a:rPr kumimoji="0"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基于静止卫星与</a:t>
            </a:r>
            <a:r>
              <a:rPr kumimoji="0"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ACDL </a:t>
            </a:r>
            <a:r>
              <a:rPr kumimoji="0"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垂直约束的地面</a:t>
            </a:r>
            <a:r>
              <a:rPr kumimoji="0"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PM2.5 </a:t>
            </a:r>
            <a:r>
              <a:rPr kumimoji="0"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反演</a:t>
            </a:r>
            <a:endParaRPr kumimoji="0"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177165" progId="Equation.DSMT4">
                  <p:embed/>
                </p:oleObj>
              </mc:Choice>
              <mc:Fallback>
                <p:oleObj name="" r:id="rId1" imgW="114300" imgH="177165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789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840" y="728980"/>
            <a:ext cx="11297920" cy="3056255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/>
              <a:t>总体思路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428625" y="1423670"/>
            <a:ext cx="11427460" cy="378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ACDL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extinctionProfile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2022.6.1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2023.5.31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=f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ERA5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温度廓线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°，湿度廓线，边界层高度，地理坐标，月份，时刻）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使用训练好的模型估算每个网格点处的消光廓线，计算近地面贡献因子GCF。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GCF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：地面至500m高度的消光积分占总柱消光的占比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）地表站点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PM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=f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AOD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FY_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LDA</a:t>
            </a:r>
            <a:r>
              <a:rPr lang="zh-CN" altLang="en-US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陆上气溶胶产品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0.04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GCF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ERA5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地表温度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地表湿度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°，地表气压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°，边界层高度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，地理坐标，月份，时刻）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）精度验证：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timeCV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stationCV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spatialCV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335915" y="0"/>
          <a:ext cx="11481435" cy="682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50"/>
                <a:gridCol w="2160270"/>
                <a:gridCol w="3592830"/>
                <a:gridCol w="4210685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平台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变量名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时间范围（</a:t>
                      </a:r>
                      <a:r>
                        <a:rPr lang="en-US" altLang="zh-CN" sz="1200"/>
                        <a:t>2022-06-01</a:t>
                      </a:r>
                      <a:r>
                        <a:rPr lang="zh-CN" altLang="en-US" sz="1200"/>
                        <a:t>至</a:t>
                      </a:r>
                      <a:r>
                        <a:rPr lang="en-US" altLang="zh-CN" sz="1200"/>
                        <a:t>2023-05-31</a:t>
                      </a:r>
                      <a:r>
                        <a:rPr lang="zh-CN" altLang="en-US" sz="1200"/>
                        <a:t>）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/>
                        <a:t>空间范围（</a:t>
                      </a:r>
                      <a:r>
                        <a:rPr lang="en-US" altLang="zh-CN" sz="1200"/>
                        <a:t>73E-135E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54N-3N</a:t>
                      </a:r>
                      <a:r>
                        <a:rPr lang="zh-CN" altLang="en-US" sz="1200"/>
                        <a:t>）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64008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trainX1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Nsamples</a:t>
                      </a:r>
                      <a:r>
                        <a:rPr lang="zh-CN" altLang="en-US" sz="1200"/>
                        <a:t>×</a:t>
                      </a:r>
                      <a:r>
                        <a:rPr lang="en-US" altLang="zh-CN" sz="1200"/>
                        <a:t>Nfeatures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ERA5 single level 0.1</a:t>
                      </a:r>
                      <a:r>
                        <a:rPr lang="zh-CN" altLang="en-US" sz="1200"/>
                        <a:t>°</a:t>
                      </a:r>
                      <a:r>
                        <a:rPr lang="en-US" altLang="zh-CN" sz="1200"/>
                        <a:t> Land </a:t>
                      </a:r>
                      <a:r>
                        <a:rPr lang="en-US" altLang="zh-CN" sz="1200"/>
                        <a:t>(5-features)</a:t>
                      </a:r>
                      <a:r>
                        <a:rPr lang="en-US" altLang="zh-CN" sz="1200"/>
                        <a:t>;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2m</a:t>
                      </a:r>
                      <a:r>
                        <a:rPr lang="zh-CN" altLang="en-US" sz="1200"/>
                        <a:t>温度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10m-</a:t>
                      </a:r>
                      <a:r>
                        <a:rPr lang="zh-CN" altLang="en-US" sz="1200"/>
                        <a:t>uWind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10m-</a:t>
                      </a:r>
                      <a:r>
                        <a:rPr lang="zh-CN" altLang="en-US" sz="1200"/>
                        <a:t>vWind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2m dewT(RH*);  </a:t>
                      </a:r>
                      <a:r>
                        <a:rPr lang="zh-CN" altLang="en-US" sz="1200"/>
                        <a:t>地表压强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0.1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UTC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/home/YiZhang/ERA5_0.1degree  % 10mU</a:t>
                      </a:r>
                      <a:r>
                        <a:rPr lang="zh-CN" altLang="en-US" sz="1200">
                          <a:sym typeface="+mn-ea"/>
                        </a:rPr>
                        <a:t>风，</a:t>
                      </a:r>
                      <a:r>
                        <a:rPr lang="en-US" altLang="zh-CN" sz="1200">
                          <a:sym typeface="+mn-ea"/>
                        </a:rPr>
                        <a:t>10mV</a:t>
                      </a:r>
                      <a:r>
                        <a:rPr lang="zh-CN" altLang="en-US" sz="1200">
                          <a:sym typeface="+mn-ea"/>
                        </a:rPr>
                        <a:t>风，</a:t>
                      </a:r>
                      <a:r>
                        <a:rPr lang="en-US" altLang="zh-CN" sz="1200">
                          <a:sym typeface="+mn-ea"/>
                        </a:rPr>
                        <a:t>2mT</a:t>
                      </a:r>
                      <a:r>
                        <a:rPr lang="zh-CN" altLang="en-US" sz="1200">
                          <a:sym typeface="+mn-ea"/>
                        </a:rPr>
                        <a:t>，</a:t>
                      </a:r>
                      <a:r>
                        <a:rPr lang="en-US" altLang="zh-CN" sz="1200">
                          <a:sym typeface="+mn-ea"/>
                        </a:rPr>
                        <a:t>2mDewT</a:t>
                      </a:r>
                      <a:r>
                        <a:rPr lang="zh-CN" altLang="en-US" sz="1200">
                          <a:sym typeface="+mn-ea"/>
                        </a:rPr>
                        <a:t>（可以计算</a:t>
                      </a:r>
                      <a:r>
                        <a:rPr lang="en-US" altLang="zh-CN" sz="1200">
                          <a:sym typeface="+mn-ea"/>
                        </a:rPr>
                        <a:t>RH</a:t>
                      </a:r>
                      <a:r>
                        <a:rPr lang="zh-CN" altLang="en-US" sz="1200">
                          <a:sym typeface="+mn-ea"/>
                        </a:rPr>
                        <a:t>）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https://cds.climate.copernicus.eu/datasets/reanalysis-era5-land?tab=overview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57200">
                <a:tc vMerge="1"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/>
                        <a:t>ERA5 single level 0.25° (2-feature)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BLH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Total_column_vertically-integrated_water_vapour</a:t>
                      </a:r>
                      <a:r>
                        <a:rPr lang="zh-CN" altLang="en-US" sz="1200">
                          <a:sym typeface="+mn-ea"/>
                        </a:rPr>
                        <a:t>；</a:t>
                      </a:r>
                      <a:endParaRPr lang="zh-CN" altLang="en-US"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0.25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UTC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/media/data/Public/ERA5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457200"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ERA5  pressure levels 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RH</a:t>
                      </a:r>
                      <a:r>
                        <a:rPr lang="zh-CN" altLang="en-US" sz="1200"/>
                        <a:t>廓线；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T</a:t>
                      </a:r>
                      <a:r>
                        <a:rPr lang="zh-CN" altLang="en-US" sz="1200"/>
                        <a:t>廓线；</a:t>
                      </a:r>
                      <a:r>
                        <a:rPr lang="en-US" altLang="zh-CN" sz="1200"/>
                        <a:t>%</a:t>
                      </a:r>
                      <a:r>
                        <a:rPr lang="zh-CN" altLang="en-US" sz="1200"/>
                        <a:t>下载与</a:t>
                      </a:r>
                      <a:r>
                        <a:rPr lang="en-US" altLang="zh-CN" sz="1200"/>
                        <a:t>ACDL</a:t>
                      </a:r>
                      <a:r>
                        <a:rPr lang="zh-CN" altLang="en-US" sz="1200"/>
                        <a:t>廓线垂直高度一致的</a:t>
                      </a:r>
                      <a:r>
                        <a:rPr lang="en-US" altLang="zh-CN" sz="1200"/>
                        <a:t>levels</a:t>
                      </a:r>
                      <a:r>
                        <a:rPr lang="zh-CN" altLang="en-US" sz="1200"/>
                        <a:t>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0.25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UTC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 anchor="ctr" anchorCtr="0"/>
                </a:tc>
              </a:tr>
              <a:tr h="274320"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时间，空间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Day</a:t>
                      </a:r>
                      <a:r>
                        <a:rPr lang="zh-CN" sz="1200"/>
                        <a:t>；</a:t>
                      </a:r>
                      <a:r>
                        <a:rPr lang="zh-CN" altLang="en-US" sz="1200"/>
                        <a:t>Hour；</a:t>
                      </a:r>
                      <a:r>
                        <a:rPr lang="zh-CN" altLang="en-US" sz="1200"/>
                        <a:t>Lon  Lat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 anchor="ctr" anchorCtr="0"/>
                </a:tc>
              </a:tr>
              <a:tr h="4095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trainY1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Nsamples</a:t>
                      </a:r>
                      <a:r>
                        <a:rPr lang="zh-CN" altLang="en-US" sz="1200"/>
                        <a:t>×</a:t>
                      </a:r>
                      <a:r>
                        <a:rPr lang="en-US" altLang="zh-CN" sz="1200"/>
                        <a:t>(7+1291</a:t>
                      </a:r>
                      <a:r>
                        <a:rPr lang="zh-CN" altLang="en-US" sz="1200"/>
                        <a:t>层高度的消光系数</a:t>
                      </a:r>
                      <a:r>
                        <a:rPr lang="en-US" altLang="zh-CN" sz="1200"/>
                        <a:t>)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ACDL</a:t>
                      </a:r>
                      <a:r>
                        <a:rPr lang="zh-CN" altLang="en-US" sz="1200"/>
                        <a:t>消光系数廓线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垂直</a:t>
                      </a:r>
                      <a:r>
                        <a:rPr lang="en-US" altLang="zh-CN" sz="1200"/>
                        <a:t>0-30km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24m</a:t>
                      </a:r>
                      <a:r>
                        <a:rPr lang="zh-CN" altLang="en-US" sz="1200"/>
                        <a:t>的分辨率，水平上为轨迹足印经纬度。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</a:rPr>
                        <a:t>2022.6.1</a:t>
                      </a:r>
                      <a:r>
                        <a:rPr lang="zh-CN" altLang="en-US" sz="1200">
                          <a:solidFill>
                            <a:srgbClr val="FF0000"/>
                          </a:solidFill>
                        </a:rPr>
                        <a:t>至</a:t>
                      </a:r>
                      <a:r>
                        <a:rPr lang="en-US" altLang="zh-CN" sz="1200">
                          <a:solidFill>
                            <a:srgbClr val="FF0000"/>
                          </a:solidFill>
                        </a:rPr>
                        <a:t>2023.5.31</a:t>
                      </a:r>
                      <a:endParaRPr lang="en-US" altLang="zh-CN" sz="120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/media/data61/lichengen/Production/Retrieval/HDF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有两个版本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(V1-00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和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V1-10)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，用更新过的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V1-10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</a:rPr>
                        <a:t>。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highlight>
                          <a:srgbClr val="FFFF00"/>
                        </a:highlight>
                      </a:endParaRPr>
                    </a:p>
                  </a:txBody>
                  <a:tcPr anchor="ctr" anchorCtr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highlight>
                          <a:srgbClr val="FFFF00"/>
                        </a:highlight>
                      </a:endParaRPr>
                    </a:p>
                  </a:txBody>
                  <a:tcPr anchor="ctr" anchorCtr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highlight>
                          <a:srgbClr val="FFFF00"/>
                        </a:highlight>
                      </a:endParaRPr>
                    </a:p>
                  </a:txBody>
                  <a:tcPr anchor="ctr" anchorCtr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highlight>
                          <a:srgbClr val="FFFF00"/>
                        </a:highlight>
                      </a:endParaRPr>
                    </a:p>
                  </a:txBody>
                  <a:tcPr anchor="ctr" anchorCtr="0">
                    <a:solidFill>
                      <a:srgbClr val="92D050"/>
                    </a:solidFill>
                  </a:tcPr>
                </a:tc>
              </a:tr>
              <a:tr h="457200">
                <a:tc rowSpan="7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/>
                        <a:t>trainX2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ERA5 single level 0.1</a:t>
                      </a:r>
                      <a:r>
                        <a:rPr lang="zh-CN" altLang="en-US" sz="1200"/>
                        <a:t>°</a:t>
                      </a:r>
                      <a:r>
                        <a:rPr lang="en-US" altLang="zh-CN" sz="1200"/>
                        <a:t> Land (5features)</a:t>
                      </a:r>
                      <a:r>
                        <a:rPr lang="en-US" altLang="zh-CN" sz="1200"/>
                        <a:t>;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2m</a:t>
                      </a:r>
                      <a:r>
                        <a:rPr lang="zh-CN" altLang="en-US" sz="1200"/>
                        <a:t>温度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10m-</a:t>
                      </a:r>
                      <a:r>
                        <a:rPr lang="zh-CN" altLang="en-US" sz="1200"/>
                        <a:t>uWind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10m-</a:t>
                      </a:r>
                      <a:r>
                        <a:rPr lang="zh-CN" altLang="en-US" sz="1200"/>
                        <a:t>vWind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r>
                        <a:rPr lang="en-US" altLang="zh-CN" sz="1200"/>
                        <a:t>2m dewT(RH*);  </a:t>
                      </a:r>
                      <a:r>
                        <a:rPr lang="zh-CN" altLang="en-US" sz="1200"/>
                        <a:t>地表压强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0.1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UTC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457200">
                <a:tc vMerge="1">
                  <a:tcPr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/>
                        <a:t>ERA5 single level 0.25° (2feature)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BLH</a:t>
                      </a:r>
                      <a:r>
                        <a:rPr lang="en-US" altLang="zh-CN" sz="1200"/>
                        <a:t>*</a:t>
                      </a:r>
                      <a:r>
                        <a:rPr lang="zh-CN" altLang="en-US" sz="1200"/>
                        <a:t>；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Total_column_vertically-integrated_water_vapour</a:t>
                      </a:r>
                      <a:r>
                        <a:rPr lang="zh-CN" altLang="en-US" sz="1200"/>
                        <a:t>；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0.25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UTC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419100"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MODIS landcover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one-minute landecosystem classification</a:t>
                      </a:r>
                      <a:r>
                        <a:rPr lang="zh-CN" altLang="en-US" sz="1200"/>
                        <a:t>产品。</a:t>
                      </a:r>
                      <a:r>
                        <a:rPr lang="en-US" altLang="zh-CN" sz="1200"/>
                        <a:t>{0,1,2,...20}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1min, 2km,</a:t>
                      </a:r>
                      <a:r>
                        <a:rPr lang="zh-CN" altLang="en-US" sz="1200"/>
                        <a:t>覆盖全球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https://modis-images.gsfc.nasa.gov/ECOSYSTEM/index.html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32004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MODIS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NDVI 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0.05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16 days</a:t>
                      </a:r>
                      <a:r>
                        <a:rPr lang="zh-CN" altLang="en-US" sz="1200"/>
                        <a:t>，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310515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SRTM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DEM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9km(0.1</a:t>
                      </a:r>
                      <a:r>
                        <a:rPr lang="zh-CN" altLang="en-US" sz="1200"/>
                        <a:t>°</a:t>
                      </a:r>
                      <a:r>
                        <a:rPr lang="en-US" sz="1200"/>
                        <a:t>)</a:t>
                      </a:r>
                      <a:endParaRPr lang="en-US" altLang="zh-CN" sz="1200"/>
                    </a:p>
                  </a:txBody>
                  <a:tcPr anchor="ctr" anchorCtr="0"/>
                </a:tc>
              </a:tr>
              <a:tr h="310515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时间，空间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Day</a:t>
                      </a:r>
                      <a:r>
                        <a:rPr lang="zh-CN" sz="1200"/>
                        <a:t>；</a:t>
                      </a:r>
                      <a:r>
                        <a:rPr lang="zh-CN" altLang="en-US" sz="1200"/>
                        <a:t>Hour；</a:t>
                      </a:r>
                      <a:r>
                        <a:rPr lang="zh-CN" altLang="en-US" sz="1200"/>
                        <a:t>Lon  Lat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 anchor="ctr" anchorCtr="0"/>
                </a:tc>
              </a:tr>
              <a:tr h="309880"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AOD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FY_LDA陆上气溶胶产品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0.04</a:t>
                      </a:r>
                      <a:r>
                        <a:rPr lang="zh-CN" altLang="en-US" sz="1200"/>
                        <a:t>°，</a:t>
                      </a:r>
                      <a:r>
                        <a:rPr lang="en-US" altLang="zh-CN" sz="1200"/>
                        <a:t>hourly     %</a:t>
                      </a:r>
                      <a:r>
                        <a:rPr lang="zh-CN" altLang="en-US" sz="1200"/>
                        <a:t>需下载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trainY2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PM2.5</a:t>
                      </a:r>
                      <a:r>
                        <a:rPr lang="zh-CN" altLang="en-US" sz="1200">
                          <a:sym typeface="+mn-ea"/>
                        </a:rPr>
                        <a:t>浓度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地面站数据真值，需要以地面站为中心进行匹配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advClick="0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5325" y="332740"/>
            <a:ext cx="10678795" cy="67392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============================================================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CALIOP VFM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高度层对应的</a:t>
            </a:r>
            <a:r>
              <a:rPr lang="zh-CN" altLang="en-US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ERA5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压力层（单位：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hPa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CALIOP VFM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垂直分层：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-0.5 ~  8.2 km : 30m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</a:t>
            </a:r>
            <a:r>
              <a:rPr lang="zh-CN" altLang="en-US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 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→ ~1000~360 hPa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（对流层低层）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 8.2 ~ 20.2 km : 60m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</a:t>
            </a:r>
            <a:r>
              <a:rPr lang="zh-CN" altLang="en-US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 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→ ~360~ 55 hPa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（对流层高层）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20.2 ~ 30.1 km : 180m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</a:t>
            </a:r>
            <a:r>
              <a:rPr lang="zh-CN" altLang="en-US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→ ~55 ~ 12 hPa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（平流层）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标准大气高度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-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气压对照（参考）：</a:t>
            </a:r>
            <a:endParaRPr lang="zh-CN" altLang="en-US" sz="160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0 km  → 1013 hPa     8 km  → 356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1 km  →  898 hPa    10 km  → 265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2 km  →  795 hPa    12 km  → 194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3 km  →  701 hPa    15 km  → 121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4 km  →  616 hPa    20 km  →  55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5 km  →  540 hPa    25 km  →  25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  6 km  →  472 hPa    30 km  →  12 hPa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============================================================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---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对流层低层：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-0.5~8.2 km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30m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分辨率，对应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~1000~360 hPa ---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   '1000''975''950''925''900'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'875''850''825''800''775'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'750''700''650''600''550'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'500''450''400''350'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---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对流层高层：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8.2~20.2 km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60m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分辨率，对应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~360~55 hPa ---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   '300''250''225''200''175'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'150''125''100''70'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# --- 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平流层：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20.2~30.1 km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180m</a:t>
            </a:r>
            <a:r>
              <a:rPr lang="zh-CN" altLang="en-US" sz="16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分辨率，对应</a:t>
            </a:r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~55~12 hPa ---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tx1"/>
                </a:solidFill>
                <a:ea typeface="JetBrains Mono"/>
                <a:cs typeface="Times New Roman" panose="02020603050405020304" pitchFamily="18" charset="0"/>
              </a:rPr>
              <a:t>     '50''30''20'</a:t>
            </a:r>
            <a:endParaRPr lang="en-US" altLang="zh-CN" sz="1600">
              <a:solidFill>
                <a:schemeClr val="tx1"/>
              </a:solidFill>
              <a:ea typeface="JetBrains Mono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325" y="116840"/>
            <a:ext cx="10379710" cy="54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Pressure levels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66115" y="181610"/>
            <a:ext cx="69176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ERA5 singleLevel  2m Temperature 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(K)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548640"/>
            <a:ext cx="9782175" cy="6275070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66115" y="181610"/>
            <a:ext cx="69176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singleLevel  BLH 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(m)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30" y="620395"/>
            <a:ext cx="11509375" cy="5969635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66115" y="181610"/>
            <a:ext cx="69176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surface RH(%) from 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PressureLevel  RH 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764540"/>
            <a:ext cx="11601450" cy="5828665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692785"/>
            <a:ext cx="11799570" cy="5986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6115" y="181610"/>
            <a:ext cx="691769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</a:t>
            </a: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surface Pressure (hPa)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66115" y="181610"/>
            <a:ext cx="705104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None/>
            </a:pPr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singleLev</a:t>
            </a:r>
            <a:r>
              <a:rPr lang="en-US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  </a:t>
            </a:r>
            <a:r>
              <a:rPr lang="en-US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Total column water vapour(kg/m2)</a:t>
            </a:r>
            <a:endParaRPr lang="en-US" altLang="en-US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764540"/>
            <a:ext cx="11520170" cy="5777865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 b="0"/>
              <a:t>3. ERA5</a:t>
            </a:r>
            <a:r>
              <a:rPr lang="zh-CN" altLang="en-US" sz="2400" b="0"/>
              <a:t>与</a:t>
            </a:r>
            <a:r>
              <a:rPr lang="en-US" altLang="zh-CN" sz="2400" b="0"/>
              <a:t>ACDL</a:t>
            </a:r>
            <a:r>
              <a:rPr lang="zh-CN" altLang="en-US" sz="2400" b="0"/>
              <a:t>时空匹配（以</a:t>
            </a:r>
            <a:r>
              <a:rPr lang="en-US" altLang="zh-CN" sz="2400" b="0"/>
              <a:t>2022.6.1</a:t>
            </a:r>
            <a:r>
              <a:rPr lang="zh-CN" altLang="en-US" sz="2400" b="0"/>
              <a:t>为例）</a:t>
            </a:r>
            <a:endParaRPr lang="zh-CN" altLang="en-US" sz="2400" b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8" name="图片 7" descr="MatchResult_Map_Profi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052830"/>
            <a:ext cx="11240770" cy="4927600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 b="0"/>
              <a:t>3. ERA5</a:t>
            </a:r>
            <a:r>
              <a:rPr lang="zh-CN" altLang="en-US" sz="2400" b="0"/>
              <a:t>与</a:t>
            </a:r>
            <a:r>
              <a:rPr lang="en-US" altLang="zh-CN" sz="2400" b="0"/>
              <a:t>ACDL</a:t>
            </a:r>
            <a:r>
              <a:rPr lang="zh-CN" altLang="en-US" sz="2400" b="0"/>
              <a:t>时空匹配</a:t>
            </a:r>
            <a:endParaRPr lang="zh-CN" altLang="en-US" sz="2400" b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82245" y="980440"/>
            <a:ext cx="4869180" cy="5492750"/>
            <a:chOff x="11173" y="1658"/>
            <a:chExt cx="7668" cy="8650"/>
          </a:xfrm>
        </p:grpSpPr>
        <p:grpSp>
          <p:nvGrpSpPr>
            <p:cNvPr id="17" name="组合 16"/>
            <p:cNvGrpSpPr/>
            <p:nvPr/>
          </p:nvGrpSpPr>
          <p:grpSpPr>
            <a:xfrm>
              <a:off x="11173" y="1658"/>
              <a:ext cx="7668" cy="6792"/>
              <a:chOff x="11173" y="1658"/>
              <a:chExt cx="7668" cy="6792"/>
            </a:xfrm>
          </p:grpSpPr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187" y="1998"/>
                <a:ext cx="7512" cy="5844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14022" y="7842"/>
                <a:ext cx="2048" cy="60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 sz="18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UTC hour</a:t>
                </a:r>
                <a:endParaRPr lang="en-US" altLang="en-US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1173" y="1658"/>
                <a:ext cx="7668" cy="60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8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匹配的数据小时直方图</a:t>
                </a:r>
                <a:endParaRPr lang="zh-CN" altLang="en-US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1868" y="8592"/>
              <a:ext cx="6400" cy="17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en-US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BJtime</a:t>
              </a:r>
              <a:r>
                <a:rPr lang="zh-CN" altLang="en-US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8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12:00-16:00 and 1:00-5:00</a:t>
              </a:r>
              <a:endPara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 rot="16200000">
            <a:off x="-1057910" y="2839720"/>
            <a:ext cx="2484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Number of pixels</a:t>
            </a:r>
            <a:endParaRPr lang="en-US" altLang="en-US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83655" y="1268730"/>
            <a:ext cx="4064000" cy="108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2022-06-01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共匹配约</a:t>
            </a: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3180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时空网格点。</a:t>
            </a:r>
            <a:endParaRPr lang="zh-CN" altLang="en-US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800" b="0"/>
              <a:t>以</a:t>
            </a:r>
            <a:r>
              <a:rPr lang="en-US" altLang="zh-CN" sz="2800" b="0"/>
              <a:t>calipso</a:t>
            </a:r>
            <a:r>
              <a:rPr lang="zh-CN" altLang="en-US" sz="2800" b="0"/>
              <a:t>和</a:t>
            </a:r>
            <a:r>
              <a:rPr lang="en-US" altLang="zh-CN" sz="2800" b="0"/>
              <a:t>H8</a:t>
            </a:r>
            <a:r>
              <a:rPr lang="zh-CN" altLang="en-US" sz="2800" b="0"/>
              <a:t>为例</a:t>
            </a:r>
            <a:endParaRPr lang="zh-CN" altLang="en-US" sz="2800" b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620395"/>
            <a:ext cx="11654155" cy="5788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31765" y="188595"/>
            <a:ext cx="1300480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 time</a:t>
            </a:r>
            <a:endParaRPr lang="en-US" alt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Click="0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 </a:t>
            </a:r>
            <a:r>
              <a:rPr lang="zh-CN" altLang="en-US"/>
              <a:t>关于</a:t>
            </a:r>
            <a:r>
              <a:rPr lang="en-US" altLang="zh-CN"/>
              <a:t>model f1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50C121F-097A-435D-8CB6-8B8E4A42EE0A}" type="slidenum">
              <a:rPr lang="zh-CN" altLang="en-US" smtClean="0">
                <a:solidFill>
                  <a:prstClr val="white"/>
                </a:solidFill>
              </a:rPr>
            </a:fld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7670" y="1124585"/>
            <a:ext cx="3731260" cy="3439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ACDL_ERA5_SpatiotemporalAttention_DL.py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20220601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一天的匹配数据做示例，训练了一个带注意力机制的深度学习网络。</a:t>
            </a:r>
            <a:endParaRPr lang="zh-CN" altLang="en-US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X_[Nsamples,8features]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Y_[Nsamples,1291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个高度层消光系数值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CV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5775" y="0"/>
            <a:ext cx="7600315" cy="6858000"/>
          </a:xfrm>
          <a:prstGeom prst="rect">
            <a:avLst/>
          </a:prstGeom>
        </p:spPr>
      </p:pic>
    </p:spTree>
  </p:cSld>
  <p:clrMapOvr>
    <a:masterClrMapping/>
  </p:clrMapOvr>
  <p:transition advClick="0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49"/>
          <a:stretch>
            <a:fillRect/>
          </a:stretch>
        </p:blipFill>
        <p:spPr>
          <a:xfrm>
            <a:off x="0" y="0"/>
            <a:ext cx="12192000" cy="4725144"/>
          </a:xfrm>
          <a:prstGeom prst="rect">
            <a:avLst/>
          </a:prstGeom>
        </p:spPr>
      </p:pic>
      <p:sp>
        <p:nvSpPr>
          <p:cNvPr id="12293" name="AutoShape 2" descr="“LIESMARS”的图片搜索结果"/>
          <p:cNvSpPr>
            <a:spLocks noChangeAspect="1" noChangeArrowheads="1"/>
          </p:cNvSpPr>
          <p:nvPr/>
        </p:nvSpPr>
        <p:spPr bwMode="auto">
          <a:xfrm>
            <a:off x="-458788" y="1238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kumimoji="0" lang="zh-CN" altLang="en-US" sz="18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94" name="AutoShape 4" descr="“LIESMARS”的图片搜索结果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endParaRPr kumimoji="0" lang="zh-CN" altLang="en-US" sz="18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Rectangle 21"/>
          <p:cNvSpPr txBox="1">
            <a:spLocks noChangeArrowheads="1"/>
          </p:cNvSpPr>
          <p:nvPr/>
        </p:nvSpPr>
        <p:spPr bwMode="gray">
          <a:xfrm>
            <a:off x="0" y="4509120"/>
            <a:ext cx="12192000" cy="216024"/>
          </a:xfrm>
          <a:prstGeom prst="rect">
            <a:avLst/>
          </a:prstGeom>
          <a:solidFill>
            <a:srgbClr val="1F4B99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ts val="4800"/>
              </a:spcBef>
              <a:buFontTx/>
              <a:buNone/>
            </a:pPr>
            <a:endParaRPr kumimoji="0" lang="zh-CN" altLang="en-US" sz="4800" b="1" dirty="0">
              <a:solidFill>
                <a:schemeClr val="bg1"/>
              </a:solidFill>
              <a:latin typeface="Arial" panose="020B0604020202020204" pitchFamily="34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71864" y="2996952"/>
            <a:ext cx="2448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1" latinLnBrk="1" hangingPunct="1">
              <a:spcBef>
                <a:spcPts val="0"/>
              </a:spcBef>
              <a:buNone/>
            </a:pPr>
            <a:r>
              <a:rPr kumimoji="0" lang="zh-CN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谢谢</a:t>
            </a:r>
            <a:endParaRPr kumimoji="0" lang="zh-CN" alt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3179676" y="4797152"/>
            <a:ext cx="5832648" cy="130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latin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kumimoji="0" lang="en-US" altLang="zh-CN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XXX</a:t>
            </a:r>
            <a:r>
              <a:rPr kumimoji="0" lang="zh-CN" altLang="en-US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（武汉大学）</a:t>
            </a:r>
            <a:br>
              <a:rPr kumimoji="0" lang="zh-CN" altLang="en-US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US" altLang="zh-CN" sz="2800" b="1" dirty="0">
                <a:solidFill>
                  <a:srgbClr val="00206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XXX@whu.edu.cn</a:t>
            </a:r>
            <a:endParaRPr kumimoji="0" lang="en-US" altLang="zh-CN" sz="2800" b="1" dirty="0">
              <a:solidFill>
                <a:srgbClr val="00206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91c26be3-64d8-4c6e-bad3-9d481f52fd12}"/>
  <p:tag name="TABLE_ENDDRAG_ORIGIN_RECT" val="904*384"/>
  <p:tag name="TABLE_ENDDRAG_RECT" val="32*9*904*384"/>
</p:tagLst>
</file>

<file path=ppt/tags/tag2.xml><?xml version="1.0" encoding="utf-8"?>
<p:tagLst xmlns:p="http://schemas.openxmlformats.org/presentationml/2006/main">
  <p:tag name="commondata" val="eyJoZGlkIjoiOWVlOTc3ZGZhNTZkZWFlMTk0MmZmM2M2Yjc4YzI3OGI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1B489E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fornian FB" panose="0207040306080B0302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fornian FB" panose="0207040306080B0302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noAutofit/>
      </a:bodyPr>
      <a:lstStyle>
        <a:defPPr>
          <a:defRPr lang="en-US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1B489E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fornian FB" panose="0207040306080B0302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fornian FB" panose="0207040306080B0302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noAutofit/>
      </a:bodyPr>
      <a:lstStyle>
        <a:defPPr>
          <a:defRPr lang="en-US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3142</Words>
  <Application>WPS 演示</Application>
  <PresentationFormat>宽屏</PresentationFormat>
  <Paragraphs>217</Paragraphs>
  <Slides>14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Californian FB</vt:lpstr>
      <vt:lpstr>微软雅黑</vt:lpstr>
      <vt:lpstr>Calibri</vt:lpstr>
      <vt:lpstr>JetBrains Mono</vt:lpstr>
      <vt:lpstr>Segoe Print</vt:lpstr>
      <vt:lpstr>Arial Unicode MS</vt:lpstr>
      <vt:lpstr>JetBrains Mono</vt:lpstr>
      <vt:lpstr>Jetter</vt:lpstr>
      <vt:lpstr>默认设计模板</vt:lpstr>
      <vt:lpstr>1_默认设计模板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ERA5与ACDL时空匹配（以2022.6.1为例）</vt:lpstr>
      <vt:lpstr>3. ERA5与ACDL时空匹配</vt:lpstr>
      <vt:lpstr>以calipso和H8为例</vt:lpstr>
      <vt:lpstr>4. 关于model f1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Geometric Methods for Analysis of Images and Textures</dc:title>
  <dc:creator>Administrator</dc:creator>
  <cp:lastModifiedBy>Zhang Yi</cp:lastModifiedBy>
  <cp:revision>8290</cp:revision>
  <cp:lastPrinted>2022-04-21T11:31:00Z</cp:lastPrinted>
  <dcterms:created xsi:type="dcterms:W3CDTF">2018-07-30T06:53:00Z</dcterms:created>
  <dcterms:modified xsi:type="dcterms:W3CDTF">2026-08-17T01:08:12Z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2AFBAE181F7A489A865FB6D9F89AED2D_13</vt:lpwstr>
  </property>
</Properties>
</file>